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uk-UA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uk-UA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5573DE-EE36-43AB-9D57-9827ED4F0137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Доброго дня, шановні члени екзаменаційної комісії! До вашої уваги пропонується кваліфікаційна робота на тему: «Програмна PBX-система з веб-інтерфейсом. Back-end». Метою роботи є розробка відмовостійкої, масштабованої та безпечної backend-платформи для багатокористувацьких АТС із логічною ізоляцією даних та автоматизацією керування.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6DB202-5E3E-4529-97D7-7E8F724BCE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Класичні рішення, такі як FreePBX, вимагають створення окремого віртуального сервера під кожного клієнта, що веде до колосальних витрат ресурсів. Окрім того, відкриті SIP-порти часто піддаються флуд-атакам. Мета нашого проєкту — вирішити ці інженерні проблеми шляхом розробки багатоклієнтського бекенду з логічною ізоляцією даних компаній на рівні СКБД та винесенням сигнального контуру на захищений Edge Proxy.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71199E-B152-4D63-82B8-05574EF0F9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обґрунтування розробки було проведено порівняльний аналіз. FreePBX не підтримує багатоклієнтність та потребує перезавантаження конфігураційних файлів при будь-яких змінах. FusionPBX підтримує логічні домени, але не має сучасного REST API для інтеграції, а його динамічні XML-запити створюють велике навантаження. Наше рішення забезпечує повну багатоклієнтність, динамічну роботу з базою даних, REST API, захист сигналізації через SBC Kamailio та інтелектуальні функції.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0A6B7C-E611-4C3B-9067-A72B3542C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Доступ до функціоналу платформи суворо розмежовано. Користувачі розділені на три ролі: супер-адміністратор платформи, адміністратор конкретної компанії та кінцевий абонент. Права доступу до API захищені JWT-токенами та перевіряються проміжним програмним забезпеченням RBAC. Це формалізовано на показаній діаграмі прецедентів використання системи.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AFA524-F285-431F-8892-6F3A022B0C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реалізації бекенду ми обрали сучасний стек технологій. Мовою розробки бізнес-логіки є Python із фреймворком FastAPI, який забезпечує асинхронну роботу з високою продуктивністю. Сховищем даних виступає PostgreSQL, а для швидкого кешування та шини подій використовується Redis. Серверна телефонія побудована на SIP-сервері Kamailio та PBX Asterisk із медіа-проксі RTPEngine. Також інтегровано API Google Gemini для ШІ-асистування. Вся інфраструктура контейнеризована в Docker.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BEFCC7-CFE0-449D-812D-32EBEDF000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слайді представлена спроєктована нами архітектура розгортання системи. Вся платформа контейнеризована за допомогою Docker Compose. Вона розділена на три контури: граничний контур DMZ приймає публічні запити (HTTPS на Nginx та SIP/WSS на Kamailio). Контур логіки обробляє API запити через FastAPI, виконує комутацію в Asterisk та проксує аудіо через RTPEngine. Бази даних PostgreSQL та Redis винесені в ізольований контур даних, що унеможливлює їх пряме компрометування з мережі Інтернет.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F6901E-3DD1-4AB6-B3BF-81802E35CD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ізоляції даних декількох компаній на одному сервері спроєктовано схему бази даних PostgreSQL. Як видно на діаграмі, таблиці користувачів, SIP-ліній (ps_endpoints), планів набору (extensions) та записів розмов (cdr) містять зовнішній ключ до таблиці tenants. Телефонія Asterisk зчитує ці дані динамічно за допомогою ARA прямо з бази даних, забезпечуючи логічний розподіл конфігурацій компаній.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2C9733-BA56-4B4C-92A9-15DEFAB263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Kamailio виступає єдиною точкою входу для телефонії. Він приймає шифровані веб-дзвінки (WSS) від WebRTC-клієнтів, транслює їх у класичний UDP SIP для внутрішнього ядра Asterisk та автоматично визначає ID компанії за доменом. Модуль Pike аналізує частоту запитів з однієї IP-адреси і миттєво блокує зловмисників при перевищенні лімітів.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A48923-6DF4-48FF-B80D-547A83278A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обробки аудіо ми інтегрували RTPEngine. Як показано на діаграмі послідовності, на першому етапі Kamailio та Asterisk здійснюють SIP-узгодження дзвінка, резервуючи порти на RTPEngine. На другому етапі встановлюється безпосередній обмін медіа-трафіком (розмова), який проходить напряму через RTPEngine у просторі ядра ОС Linux в обхід Asterisk. Це дозволяє уникнути навантаження на Asterisk та забезпечити транскодування SRTP у RTP.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02B72A-A18F-4F18-8B52-527590A7E4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адміністрування платформи реалізовано REST API на FastAPI. При створенні нової лінії запит від адміністратора тенанта валідується та записується в PostgreSQL. Завдяки технології Asterisk Realtime, телефонна станція зчитує нові налаштування з БД в реальному часі при першому ж виклику. Це повністю виключає затримки та необхідність перезавантаження конфігураційних файлів телефонії.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463108-A072-4EF3-B8FB-377B9ED6A5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миттєвого відображення стану дзвінків у веб-інтерфейсі розроблено WebSocket-шлюз. Події з ядра телефонії перехоплюються через AMI, пересилаються в Redis Pub/Sub для масштабування, а потім відправляються у WebSocket-з'єднання конкретного користувача. Це забезпечує реактивний відгук інтерфейсу без навантаження бази даних постійними запитами.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D4E0C7-26B6-43E0-94C2-4E76AD8E0D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спрощення користування складною телефонією було створено ШІ-асистента навігації. Бекенд завантажує мапу інтерфейсу з файлу ui_map.json, автоматично відфільтровує заборонені за роллю елементи для економії вхідних токенів та надсилає стиснуту структуру моделі Gemini. ШІ-модель допомагає користувачу знайти потрібне меню, повертаючи DOM-ідентифікатори для підсвічування кнопок на фронтенді.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F8912D-73D9-43D1-9DF9-EB50ADF341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Працездатність платформи було підтверджено навантажувальними тестами за допомогою SIPp. Система продемонструвала стабільні 98% успішних з'єднань при інтенсивності до 20 викликів на секунду. Аналіз SIP-трафіку в утиліті sngrep, що зображений на слайді, підтвердив коректність тристороннього рукостискання, проходження сигналів гудків, підняття слухавки та успішного завершення сесії.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D4F20A-994B-4D5A-8E12-8E8D14AC37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 ході виконання роботи було спроєктовано та реалізовано повноцінний бекенд для SaaS PBX-системи. Завдання дослідження виконані повністю: забезпечено безпеку, високу продуктивність медіа-контуру та логічне розділення даних клієнтів. Система готова до масштабування та хмарного розгортання.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40B58-F5BA-4C74-8515-6F0D00EE68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Дякую за увагу! Доповідь закінчено. Готовий відповісти на ваші запитання.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DE7933-D773-4502-B032-0AE655DF64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uk-UA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uk-UA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uk-U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uk-U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uk-U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914400" y="914400"/>
            <a:ext cx="73141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Програмна PBX-система</a:t>
            </a:r>
            <a:endParaRPr lang="uk-U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з вебінтерфейсом. Back-end</a:t>
            </a:r>
            <a:endParaRPr lang="uk-U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914400" y="2743200"/>
            <a:ext cx="7314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14400" y="3291840"/>
            <a:ext cx="73141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Виконав: здобувач 4 курсу групи ПЗПІ-22-5  Лавров А.В.</a:t>
            </a:r>
            <a:endParaRPr lang="uk-UA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Науковий керівник: доц.  Работягов А.В.</a:t>
            </a:r>
            <a:endParaRPr lang="uk-UA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Актуальність та мета розробки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65760" y="1005840"/>
            <a:ext cx="48535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Мета: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  Проєктування та розробка масштабованої backend-платформи для SaaS PBX-послуг із логічною ізоляцією компаній на одному сервері.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65760" y="2011680"/>
            <a:ext cx="5028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Проблематика існуючих рішень: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365760" y="2423160"/>
            <a:ext cx="4493520" cy="22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монолітність, важко масштабувати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висока вартість ресурсів (окремі VM для кожного клієнта)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вразливість SIP-портів телефонії до DDoS-атак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577840" y="1005840"/>
            <a:ext cx="31993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5580000" y="360000"/>
            <a:ext cx="3088800" cy="42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Порівняльний аналіз конкурентних рішень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" name="Table 0"/>
          <p:cNvGraphicFramePr/>
          <p:nvPr/>
        </p:nvGraphicFramePr>
        <p:xfrm>
          <a:off x="365760" y="1005840"/>
          <a:ext cx="8320680" cy="3326400"/>
        </p:xfrm>
        <a:graphic>
          <a:graphicData uri="http://schemas.openxmlformats.org/drawingml/2006/table">
            <a:tbl>
              <a:tblPr/>
              <a:tblGrid>
                <a:gridCol w="3383280"/>
                <a:gridCol w="1600200"/>
                <a:gridCol w="1600200"/>
                <a:gridCol w="173736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Критерій порівняння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FreePBX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(Asterisk)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FusionPBX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(FreeSWITCH)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Розроблене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рішення</a:t>
                      </a:r>
                      <a:endParaRPr lang="uk-UA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6b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Багатоклієнтність (Multi-tenancy)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Динамічний Realtime DB Dialplan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b4530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Частково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Керуючий REST API з Swagger UI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b4530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Частково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Розподіл контурів SIP та Медіа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Автоматичний контроль квот дисків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Інтелектуальний ШІ-помічник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Ні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5803d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</a:t>
                      </a:r>
                      <a:endParaRPr lang="uk-UA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Аналіз ролей користувачів та вимог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365760" y="1005840"/>
            <a:ext cx="841140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1620000" y="900000"/>
            <a:ext cx="5939280" cy="405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Стек технологій та інструментів розробки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365760" y="1005840"/>
            <a:ext cx="1626480" cy="346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65760" y="1005840"/>
            <a:ext cx="162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API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365760" y="1426320"/>
            <a:ext cx="16264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352800" y="3132360"/>
            <a:ext cx="1626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Python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FastAPI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SQLAlchemy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2048400" y="1005840"/>
            <a:ext cx="1626480" cy="346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2048400" y="1005840"/>
            <a:ext cx="162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База даних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2048400" y="1426320"/>
            <a:ext cx="16264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2048400" y="3132360"/>
            <a:ext cx="1626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Redis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3730680" y="1005840"/>
            <a:ext cx="1626480" cy="346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3730680" y="1005840"/>
            <a:ext cx="162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Телефонія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3730680" y="1426320"/>
            <a:ext cx="16264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3730680" y="3132360"/>
            <a:ext cx="1626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Kamailio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Asterisk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5413320" y="1005840"/>
            <a:ext cx="1626480" cy="346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5413320" y="1005840"/>
            <a:ext cx="162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Інфрасруктура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5413320" y="1426320"/>
            <a:ext cx="16264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5413320" y="3132360"/>
            <a:ext cx="1626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Docker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Nginx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7095600" y="1005840"/>
            <a:ext cx="1626480" cy="346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7095600" y="1005840"/>
            <a:ext cx="162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ШІ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7095600" y="1426320"/>
            <a:ext cx="1626480" cy="15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7095600" y="3132360"/>
            <a:ext cx="1626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Google Gemini</a:t>
            </a:r>
            <a:endParaRPr lang="uk-U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346680" y="1426320"/>
            <a:ext cx="1632600" cy="48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2"/>
          <a:stretch/>
        </p:blipFill>
        <p:spPr>
          <a:xfrm>
            <a:off x="285120" y="1800000"/>
            <a:ext cx="1694160" cy="57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/>
          <p:cNvPicPr/>
          <p:nvPr/>
        </p:nvPicPr>
        <p:blipFill>
          <a:blip r:embed="rId3"/>
          <a:stretch/>
        </p:blipFill>
        <p:spPr>
          <a:xfrm>
            <a:off x="756000" y="2325600"/>
            <a:ext cx="719280" cy="7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4"/>
          <a:stretch/>
        </p:blipFill>
        <p:spPr>
          <a:xfrm>
            <a:off x="2340000" y="1438560"/>
            <a:ext cx="899280" cy="90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/>
          <p:cNvPicPr/>
          <p:nvPr/>
        </p:nvPicPr>
        <p:blipFill>
          <a:blip r:embed="rId5"/>
          <a:stretch/>
        </p:blipFill>
        <p:spPr>
          <a:xfrm>
            <a:off x="2448000" y="2340000"/>
            <a:ext cx="719280" cy="7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/>
          <p:cNvPicPr/>
          <p:nvPr/>
        </p:nvPicPr>
        <p:blipFill>
          <a:blip r:embed="rId6"/>
          <a:stretch/>
        </p:blipFill>
        <p:spPr>
          <a:xfrm>
            <a:off x="3984480" y="1460160"/>
            <a:ext cx="1054800" cy="69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7"/>
          <a:stretch/>
        </p:blipFill>
        <p:spPr>
          <a:xfrm>
            <a:off x="4140000" y="2160000"/>
            <a:ext cx="881640" cy="51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"/>
          <p:cNvPicPr/>
          <p:nvPr/>
        </p:nvPicPr>
        <p:blipFill>
          <a:blip r:embed="rId8"/>
          <a:stretch/>
        </p:blipFill>
        <p:spPr>
          <a:xfrm>
            <a:off x="5413320" y="1606680"/>
            <a:ext cx="1640880" cy="37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/>
          <p:cNvPicPr/>
          <p:nvPr/>
        </p:nvPicPr>
        <p:blipFill>
          <a:blip r:embed="rId9"/>
          <a:stretch/>
        </p:blipFill>
        <p:spPr>
          <a:xfrm>
            <a:off x="5580000" y="2080440"/>
            <a:ext cx="1100880" cy="6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10"/>
          <a:stretch/>
        </p:blipFill>
        <p:spPr>
          <a:xfrm>
            <a:off x="7380000" y="1559880"/>
            <a:ext cx="1065960" cy="59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Архітектура та розгортання системи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365760" y="1005840"/>
            <a:ext cx="841140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72000" y="1071720"/>
            <a:ext cx="8999280" cy="324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Проєктування бази даних та логіка Multi-Tenancy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65760" y="720000"/>
            <a:ext cx="70135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Таблиці users, ps_endpoints, extensions, cdr містять зовнішній ключ tenant_id (або accountcode) до таблиці tenants — усі дані ізольовані на рівні СКБД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Asterisk динамічно зчитує конфігурацію SIP-ліній та Dialplan напряму з PostgreSQL при кожному виклику — без перезавантаження файлів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892040" y="1005840"/>
            <a:ext cx="38851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612000" y="2160000"/>
            <a:ext cx="7919280" cy="280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Сигнальний Edge Proxy Kamailio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365760" y="1005840"/>
            <a:ext cx="5119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Функції Kamailio: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365760" y="1417320"/>
            <a:ext cx="467424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взаємодія з WebRTC-клієнтами: трансляція WSS → SIP UDP для внутрішнього ядра Asterisk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динамічне визначення тенанта за доменом та ін'єкція SIP-заголовка X-Tenant-ID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захист від флуд-атак за допомогою модуля Pike: автоматичне блокування IP при перевищенні лімітів частоти запитів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715000" y="1005840"/>
            <a:ext cx="306216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5220000" y="1080000"/>
            <a:ext cx="3522240" cy="341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Медіа-ядро PBX Asterisk та RTPEngine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365760" y="1080000"/>
            <a:ext cx="2513520" cy="37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Висока продуктивність обробки голосу завдяки роботі RTPEngine у kernel-space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Шифрування аудіо-потоку: транскодування SRTP (від WebRTC-клієнта) у RTP (для внутрішнього контуру)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Медіа-трафік під час розмови проходить напряму через RTPEngine в обхід Asterisk — це знімає навантаження з PBX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892040" y="1005840"/>
            <a:ext cx="38851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2880000" y="1201680"/>
            <a:ext cx="6157440" cy="311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Керуючий RESTful API та архітектура Realtime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65760" y="1005840"/>
            <a:ext cx="70135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FastAPI + автодокументування Swagger UI: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асинхронний REST API зі стандартизованою OpenAPI-документацією; валідація запитів через Pydantic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Asterisk Realtime Architecture (ARA):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зміни в PostgreSQL відображаються в телефонії без перезавантаження — Asterisk зчитує конфігурацію при кожному виклику в реальному часі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892040" y="1005840"/>
            <a:ext cx="38851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1430640" y="2428560"/>
            <a:ext cx="6282000" cy="237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Сигналізація в реальному часі та WebSockets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1005840"/>
            <a:ext cx="71935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Проблема: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відображення подій дзвінків у веб-інтерфейсі без постійних HTTP-запитів (polling)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Стек рішень: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Asterisk AMI  →  Redis Pub/Sub  →  WebSocket Server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Схема передачі події: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AMI-подія (Ringing / Hangup) → Redis Pub/Sub → WebSocket → Браузер користувача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892040" y="1005840"/>
            <a:ext cx="38851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990360" y="2523960"/>
            <a:ext cx="7162920" cy="21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Програмна реалізація ШІ-асистента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365760" y="1005840"/>
            <a:ext cx="39535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Інтеграція з API Google Gemini для побудови голосової та текстової навігації по інтерфейсу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Алгоритм стиснення контексту меню з файлу ui_map.json для економії вхідних токенів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Рольова фільтрація: перед відправкою в Gemini з мапи видаляються елементи, заборонені для ролі поточного користувача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715000" y="1005840"/>
            <a:ext cx="306216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4734720" y="900000"/>
            <a:ext cx="3904560" cy="396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Результати тестування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65760" y="1005840"/>
            <a:ext cx="3413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Методика тестування: генерація SIP-трафіку утилітою SIPp (5–20 CPS)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343400" y="955080"/>
            <a:ext cx="429660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Успішність встановлення з'єднань: 98,2 %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Затримка (Latency) REST API: 45–80 мс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8000" indent="-10800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Завантаження CPU Asterisk: до 12 % при піках</a:t>
            </a:r>
            <a:endParaRPr lang="uk-U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4892040" y="1005840"/>
            <a:ext cx="388512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1710360" y="1873800"/>
            <a:ext cx="5722920" cy="29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365760" y="255960"/>
            <a:ext cx="8411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00" b="1" u="none" strike="noStrike">
                <a:solidFill>
                  <a:srgbClr val="1b3a6b"/>
                </a:solidFill>
                <a:effectLst/>
                <a:uFillTx/>
                <a:latin typeface="Arial"/>
                <a:ea typeface="Arial"/>
              </a:rPr>
              <a:t>Висновки</a:t>
            </a:r>
            <a:endParaRPr lang="uk-UA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65760" y="1005840"/>
            <a:ext cx="8411400" cy="37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Створено та розгорнуто захищений, відмовостійкий бекенд багатокористувацької АТС</a:t>
            </a:r>
            <a:endParaRPr lang="uk-U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Реалізовано логічну ізоляцію компаній на рівні БД, REST API та Dialplan</a:t>
            </a:r>
            <a:endParaRPr lang="uk-U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Мінімізовано мережеві затримки медіа-трафіку завдяки інтеграції RTPEngine у kernel-space</a:t>
            </a:r>
            <a:endParaRPr lang="uk-U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OpenSymbol"/>
              <a:buChar char="-"/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Arial"/>
                <a:ea typeface="Arial"/>
              </a:rPr>
              <a:t>Впроваджено фонову службу контролю дискового простору та ШІ-навігатор на базі Google Gemini</a:t>
            </a:r>
            <a:endParaRPr lang="uk-U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914400" y="1280160"/>
            <a:ext cx="73141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Дякую за увагу!</a:t>
            </a:r>
            <a:endParaRPr lang="uk-UA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914400" y="2743200"/>
            <a:ext cx="7314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a8c4e0"/>
                </a:solidFill>
                <a:effectLst/>
                <a:uFillTx/>
                <a:latin typeface="Arial"/>
                <a:ea typeface="Arial"/>
              </a:rPr>
              <a:t>Програмна PBX-система з вебінтерфейсом. Back-end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914400" y="3383280"/>
            <a:ext cx="7314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LibreOffice/25.8.7.3$Windows_X86_64 LibreOffice_project/30742500f2d3eb4366ac312fa33d3dcabdb3eba5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2026-06-28T12:27:24Z</dcterms:created>
  <dc:creator>Андрій Лавров</dc:creator>
  <dc:description/>
  <dc:language>uk-UA</dc:language>
  <cp:lastModifiedBy/>
  <dcterms:modified xsi:type="dcterms:W3CDTF">2026-06-28T16:58:04Z</dcterms:modified>
  <cp:revision>6</cp:revision>
  <dc:subject>PptxGenJS Presentation</dc:subject>
  <dc:title>Програмна PBX-система з веб-інтерфейсом. Back-end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